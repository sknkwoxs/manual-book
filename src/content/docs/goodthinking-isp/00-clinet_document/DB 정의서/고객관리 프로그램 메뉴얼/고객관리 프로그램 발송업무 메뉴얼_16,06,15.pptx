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3" r:id="rId13"/>
    <p:sldId id="266" r:id="rId14"/>
    <p:sldId id="267" r:id="rId15"/>
    <p:sldId id="271" r:id="rId16"/>
    <p:sldId id="272" r:id="rId17"/>
    <p:sldId id="268" r:id="rId18"/>
    <p:sldId id="26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57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95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58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47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734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64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161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795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74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111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45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6D07A-D5F9-49C8-84EF-1CA4B93A3A79}" type="datetimeFigureOut">
              <a:rPr lang="ko-KR" altLang="en-US" smtClean="0"/>
              <a:t>2016-06-15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E423C-ADA9-4BBD-8950-C563AA0DE8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48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1" y="623391"/>
            <a:ext cx="7496175" cy="5038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791" y="62299"/>
            <a:ext cx="4278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00FF"/>
                </a:solidFill>
              </a:rPr>
              <a:t>1.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신규도서발송용스티커인쇄</a:t>
            </a:r>
            <a:r>
              <a:rPr lang="en-US" altLang="ko-KR" b="1" dirty="0" smtClean="0">
                <a:solidFill>
                  <a:srgbClr val="0000FF"/>
                </a:solidFill>
              </a:rPr>
              <a:t>(</a:t>
            </a:r>
            <a:r>
              <a:rPr lang="ko-KR" altLang="en-US" b="1" dirty="0" smtClean="0">
                <a:solidFill>
                  <a:srgbClr val="0000FF"/>
                </a:solidFill>
              </a:rPr>
              <a:t>국내해외</a:t>
            </a:r>
            <a:r>
              <a:rPr lang="en-US" altLang="ko-KR" b="1" dirty="0" smtClean="0">
                <a:solidFill>
                  <a:srgbClr val="0000FF"/>
                </a:solidFill>
              </a:rPr>
              <a:t>)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9026" y="3789600"/>
            <a:ext cx="51956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EX)</a:t>
            </a:r>
            <a:endParaRPr lang="en-US" altLang="ko-KR" sz="1600" dirty="0"/>
          </a:p>
          <a:p>
            <a:r>
              <a:rPr lang="ko-KR" altLang="en-US" sz="1600" dirty="0" smtClean="0"/>
              <a:t>국내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좋은생각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ko-KR" altLang="en-US" sz="1600" dirty="0" smtClean="0"/>
              <a:t>국내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큰글씨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ko-KR" altLang="en-US" sz="1600" dirty="0" smtClean="0"/>
              <a:t>해외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좋은생각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ko-KR" altLang="en-US" sz="1600" dirty="0" smtClean="0"/>
              <a:t>해외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큰글씨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314325" y="5333007"/>
            <a:ext cx="5086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2) </a:t>
            </a:r>
            <a:r>
              <a:rPr lang="ko-KR" altLang="en-US" sz="1600" dirty="0" smtClean="0"/>
              <a:t>발송자료 등록 이 모두 끝났으면 엑셀 출력을 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14325" y="3411894"/>
            <a:ext cx="11268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1) </a:t>
            </a:r>
            <a:r>
              <a:rPr lang="ko-KR" altLang="en-US" sz="1600" dirty="0" smtClean="0"/>
              <a:t>국내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해외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구분으로 </a:t>
            </a:r>
            <a:r>
              <a:rPr lang="ko-KR" altLang="en-US" sz="1600" dirty="0" err="1" smtClean="0"/>
              <a:t>발송월호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기준과 </a:t>
            </a:r>
            <a:r>
              <a:rPr lang="ko-KR" altLang="en-US" sz="1600" dirty="0" err="1" smtClean="0"/>
              <a:t>도서별</a:t>
            </a:r>
            <a:r>
              <a:rPr lang="ko-KR" altLang="en-US" sz="1600" dirty="0" smtClean="0"/>
              <a:t> 신규 접수건의 발송자료를 등록한다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53324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3" y="67677"/>
            <a:ext cx="6049391" cy="36781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7" y="2171700"/>
            <a:ext cx="6443663" cy="42497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23453" y="3745832"/>
            <a:ext cx="3490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발송자료 등록 건이 없을 때 알림 창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125091" y="5019095"/>
            <a:ext cx="3212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발송자료 등록이 됐을 때 알림 창</a:t>
            </a:r>
            <a:endParaRPr lang="ko-KR" alt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8114008" y="2997022"/>
            <a:ext cx="4368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발송자료 등록 버튼 클릭 시 현황 리스트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125091" y="420730"/>
            <a:ext cx="51828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SKIP : </a:t>
            </a:r>
            <a:r>
              <a:rPr lang="ko-KR" altLang="en-US" sz="1600" dirty="0" smtClean="0"/>
              <a:t>처리할 자료가 없음</a:t>
            </a:r>
            <a:endParaRPr lang="en-US" altLang="ko-KR" sz="1600" dirty="0" smtClean="0"/>
          </a:p>
          <a:p>
            <a:r>
              <a:rPr lang="en-US" altLang="ko-KR" sz="1600" dirty="0" smtClean="0"/>
              <a:t>ERROR : </a:t>
            </a:r>
            <a:r>
              <a:rPr lang="ko-KR" altLang="en-US" sz="1600" dirty="0" smtClean="0"/>
              <a:t>자료 등록 실패</a:t>
            </a:r>
            <a:endParaRPr lang="en-US" altLang="ko-KR" sz="1600" dirty="0" smtClean="0"/>
          </a:p>
          <a:p>
            <a:r>
              <a:rPr lang="en-US" altLang="ko-KR" sz="1600" dirty="0" smtClean="0"/>
              <a:t>OK : </a:t>
            </a:r>
            <a:r>
              <a:rPr lang="ko-KR" altLang="en-US" sz="1600" dirty="0" smtClean="0"/>
              <a:t>자료 등록 성공</a:t>
            </a:r>
            <a:endParaRPr lang="en-US" altLang="ko-KR" sz="1600" dirty="0" smtClean="0"/>
          </a:p>
          <a:p>
            <a:r>
              <a:rPr lang="ko-KR" altLang="en-US" sz="1600" dirty="0" smtClean="0">
                <a:solidFill>
                  <a:srgbClr val="FF0000"/>
                </a:solidFill>
              </a:rPr>
              <a:t>엑셀 출력은 </a:t>
            </a:r>
            <a:r>
              <a:rPr lang="en-US" altLang="ko-KR" sz="1600" dirty="0" smtClean="0">
                <a:solidFill>
                  <a:srgbClr val="FF0000"/>
                </a:solidFill>
              </a:rPr>
              <a:t>OK(</a:t>
            </a:r>
            <a:r>
              <a:rPr lang="ko-KR" altLang="en-US" sz="1600" dirty="0" smtClean="0">
                <a:solidFill>
                  <a:srgbClr val="FF0000"/>
                </a:solidFill>
              </a:rPr>
              <a:t>등록 성공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 smtClean="0">
                <a:solidFill>
                  <a:srgbClr val="FF0000"/>
                </a:solidFill>
              </a:rPr>
              <a:t>로 표시 된 것만 하면 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084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008896"/>
            <a:ext cx="7581900" cy="5114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1950" y="275232"/>
            <a:ext cx="7181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3) </a:t>
            </a:r>
            <a:r>
              <a:rPr lang="ko-KR" altLang="en-US" sz="1600" dirty="0" smtClean="0"/>
              <a:t>엑셀 출력은 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도서종류 기준으로 출력 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엑셀 자료에는 국내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해외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좋은생각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큰글씨 모두 포함된 자료로 출력 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7543724" y="1203158"/>
            <a:ext cx="42793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엑셀 출력 예시</a:t>
            </a:r>
            <a:r>
              <a:rPr lang="en-US" altLang="ko-KR" sz="1600" dirty="0" smtClean="0"/>
              <a:t>)</a:t>
            </a:r>
          </a:p>
          <a:p>
            <a:r>
              <a:rPr lang="ko-KR" altLang="en-US" sz="1600" dirty="0" smtClean="0"/>
              <a:t>옆에 발송자료 등록 현황으로 보면</a:t>
            </a:r>
            <a:endParaRPr lang="en-US" altLang="ko-KR" sz="1600" dirty="0" smtClean="0"/>
          </a:p>
          <a:p>
            <a:r>
              <a:rPr lang="en-US" altLang="ko-KR" sz="1600" dirty="0" smtClean="0"/>
              <a:t>1. 201605+20160428+</a:t>
            </a:r>
            <a:r>
              <a:rPr lang="ko-KR" altLang="en-US" sz="1600" dirty="0" smtClean="0"/>
              <a:t>잡지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en-US" altLang="ko-KR" sz="1600" dirty="0" smtClean="0"/>
              <a:t>2. 201605+20160503+</a:t>
            </a:r>
            <a:r>
              <a:rPr lang="ko-KR" altLang="en-US" sz="1600" dirty="0" smtClean="0"/>
              <a:t>잡지</a:t>
            </a:r>
            <a:endParaRPr lang="en-US" altLang="ko-KR" sz="1600" dirty="0" smtClean="0"/>
          </a:p>
          <a:p>
            <a:r>
              <a:rPr lang="ko-KR" altLang="en-US" sz="1600" dirty="0" smtClean="0">
                <a:solidFill>
                  <a:srgbClr val="FF0000"/>
                </a:solidFill>
              </a:rPr>
              <a:t>발송일자가 달라 엑셀 출력을 </a:t>
            </a:r>
            <a:r>
              <a:rPr lang="en-US" altLang="ko-KR" sz="1600" dirty="0" smtClean="0">
                <a:solidFill>
                  <a:srgbClr val="FF0000"/>
                </a:solidFill>
              </a:rPr>
              <a:t>2</a:t>
            </a:r>
            <a:r>
              <a:rPr lang="ko-KR" altLang="en-US" sz="1600" dirty="0" smtClean="0">
                <a:solidFill>
                  <a:srgbClr val="FF0000"/>
                </a:solidFill>
              </a:rPr>
              <a:t>번 해야 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02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515353"/>
            <a:ext cx="7724775" cy="3331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0025" y="96263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4) </a:t>
            </a:r>
            <a:r>
              <a:rPr lang="ko-KR" altLang="en-US" sz="1600" dirty="0" err="1" smtClean="0"/>
              <a:t>신규도서발송용스티커인쇄</a:t>
            </a:r>
            <a:r>
              <a:rPr lang="ko-KR" altLang="en-US" sz="1600" dirty="0" smtClean="0"/>
              <a:t> 엑셀 출력 양식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970047" y="2892750"/>
            <a:ext cx="890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엑셀 파일에 국내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해외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잡지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선물</a:t>
            </a:r>
            <a:r>
              <a:rPr lang="en-US" altLang="ko-KR" sz="1600" dirty="0" smtClean="0"/>
              <a:t>), </a:t>
            </a:r>
            <a:r>
              <a:rPr lang="ko-KR" altLang="en-US" sz="1600" dirty="0" smtClean="0"/>
              <a:t>택배 구분으로 엑셀 시트가 만들어 진다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4181902"/>
            <a:ext cx="9115425" cy="2562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0025" y="5885775"/>
            <a:ext cx="11879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solidFill>
                  <a:srgbClr val="FF0000"/>
                </a:solidFill>
              </a:rPr>
              <a:t>일일발송</a:t>
            </a:r>
            <a:r>
              <a:rPr lang="ko-KR" altLang="en-US" sz="1600" dirty="0" smtClean="0">
                <a:solidFill>
                  <a:srgbClr val="FF0000"/>
                </a:solidFill>
              </a:rPr>
              <a:t> 엑셀출력 자료에서는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FF0000"/>
                </a:solidFill>
              </a:rPr>
              <a:t>+</a:t>
            </a:r>
            <a:r>
              <a:rPr lang="ko-KR" altLang="en-US" sz="1600" dirty="0" smtClean="0">
                <a:solidFill>
                  <a:srgbClr val="FF0000"/>
                </a:solidFill>
              </a:rPr>
              <a:t>큰글씨</a:t>
            </a:r>
            <a:r>
              <a:rPr lang="en-US" altLang="ko-KR" sz="1600" dirty="0" smtClean="0">
                <a:solidFill>
                  <a:srgbClr val="FF0000"/>
                </a:solidFill>
              </a:rPr>
              <a:t>+</a:t>
            </a:r>
            <a:r>
              <a:rPr lang="ko-KR" altLang="en-US" sz="1600" dirty="0" smtClean="0">
                <a:solidFill>
                  <a:srgbClr val="FF0000"/>
                </a:solidFill>
              </a:rPr>
              <a:t>선물 발송 수량을 다시 계산해서 우편</a:t>
            </a:r>
            <a:r>
              <a:rPr lang="en-US" altLang="ko-KR" sz="1600" dirty="0" smtClean="0">
                <a:solidFill>
                  <a:srgbClr val="FF0000"/>
                </a:solidFill>
              </a:rPr>
              <a:t>/</a:t>
            </a:r>
            <a:r>
              <a:rPr lang="ko-KR" altLang="en-US" sz="1600" dirty="0" smtClean="0">
                <a:solidFill>
                  <a:srgbClr val="FF0000"/>
                </a:solidFill>
              </a:rPr>
              <a:t>택배 구분을 다시 만들고 나서 출력된다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55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530661"/>
            <a:ext cx="7038975" cy="487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791" y="95250"/>
            <a:ext cx="298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00FF"/>
                </a:solidFill>
              </a:rPr>
              <a:t>2. </a:t>
            </a:r>
            <a:r>
              <a:rPr lang="ko-KR" altLang="en-US" b="1" dirty="0" err="1" smtClean="0">
                <a:solidFill>
                  <a:srgbClr val="0000FF"/>
                </a:solidFill>
              </a:rPr>
              <a:t>도서재발송용스티커인쇄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9026" y="3789600"/>
            <a:ext cx="51956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EX)</a:t>
            </a:r>
            <a:endParaRPr lang="en-US" altLang="ko-KR" sz="1600" dirty="0"/>
          </a:p>
          <a:p>
            <a:r>
              <a:rPr lang="ko-KR" altLang="en-US" sz="1600" dirty="0" smtClean="0"/>
              <a:t>국내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좋은생각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ko-KR" altLang="en-US" sz="1600" dirty="0" smtClean="0"/>
              <a:t>국내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큰글씨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ko-KR" altLang="en-US" sz="1600" dirty="0" smtClean="0"/>
              <a:t>해외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좋은생각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ko-KR" altLang="en-US" sz="1600" dirty="0" smtClean="0"/>
              <a:t>해외</a:t>
            </a:r>
            <a:r>
              <a:rPr lang="en-US" altLang="ko-KR" sz="1600" dirty="0" smtClean="0"/>
              <a:t>+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도서명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큰글씨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도서종류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314325" y="5333007"/>
            <a:ext cx="5086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2) </a:t>
            </a:r>
            <a:r>
              <a:rPr lang="ko-KR" altLang="en-US" sz="1600" dirty="0" smtClean="0"/>
              <a:t>발송자료 등록 이 모두 끝났으면 엑셀 출력을 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314325" y="3411894"/>
            <a:ext cx="11268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1) </a:t>
            </a:r>
            <a:r>
              <a:rPr lang="ko-KR" altLang="en-US" sz="1600" dirty="0" smtClean="0"/>
              <a:t>국내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해외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구분으로 </a:t>
            </a:r>
            <a:r>
              <a:rPr lang="ko-KR" altLang="en-US" sz="1600" dirty="0" err="1" smtClean="0"/>
              <a:t>발송월호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기준과 </a:t>
            </a:r>
            <a:r>
              <a:rPr lang="ko-KR" altLang="en-US" sz="1600" dirty="0" err="1" smtClean="0"/>
              <a:t>도서별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재발송</a:t>
            </a:r>
            <a:r>
              <a:rPr lang="ko-KR" altLang="en-US" sz="1600" dirty="0" smtClean="0"/>
              <a:t> 접수건의 발송자료를 등록한다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03548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8" y="91937"/>
            <a:ext cx="5780060" cy="369803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74" y="2081212"/>
            <a:ext cx="6562725" cy="44658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5371" y="3789973"/>
            <a:ext cx="3490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발송자료 등록 건이 없을 때 알림 창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553074" y="5086586"/>
            <a:ext cx="3212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발송자료 등록이 됐을 때 알림 창</a:t>
            </a:r>
            <a:endParaRPr lang="ko-KR" altLang="en-US" sz="16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513" y="4695825"/>
            <a:ext cx="2922084" cy="144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55528" y="420720"/>
            <a:ext cx="51828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SKIP : </a:t>
            </a:r>
            <a:r>
              <a:rPr lang="ko-KR" altLang="en-US" sz="1600" dirty="0" smtClean="0"/>
              <a:t>처리할 자료가 없음</a:t>
            </a:r>
            <a:endParaRPr lang="en-US" altLang="ko-KR" sz="1600" dirty="0" smtClean="0"/>
          </a:p>
          <a:p>
            <a:r>
              <a:rPr lang="en-US" altLang="ko-KR" sz="1600" dirty="0" smtClean="0"/>
              <a:t>ERROR : </a:t>
            </a:r>
            <a:r>
              <a:rPr lang="ko-KR" altLang="en-US" sz="1600" dirty="0" smtClean="0"/>
              <a:t>자료 등록 실패</a:t>
            </a:r>
            <a:endParaRPr lang="en-US" altLang="ko-KR" sz="1600" dirty="0" smtClean="0"/>
          </a:p>
          <a:p>
            <a:r>
              <a:rPr lang="en-US" altLang="ko-KR" sz="1600" dirty="0" smtClean="0"/>
              <a:t>OK : </a:t>
            </a:r>
            <a:r>
              <a:rPr lang="ko-KR" altLang="en-US" sz="1600" dirty="0" smtClean="0"/>
              <a:t>자료 등록 성공</a:t>
            </a:r>
            <a:endParaRPr lang="en-US" altLang="ko-KR" sz="1600" dirty="0" smtClean="0"/>
          </a:p>
          <a:p>
            <a:r>
              <a:rPr lang="ko-KR" altLang="en-US" sz="1600" dirty="0">
                <a:solidFill>
                  <a:srgbClr val="FF0000"/>
                </a:solidFill>
              </a:rPr>
              <a:t>엑셀 출력은 </a:t>
            </a:r>
            <a:r>
              <a:rPr lang="en-US" altLang="ko-KR" sz="1600" dirty="0">
                <a:solidFill>
                  <a:srgbClr val="FF0000"/>
                </a:solidFill>
              </a:rPr>
              <a:t>OK(</a:t>
            </a:r>
            <a:r>
              <a:rPr lang="ko-KR" altLang="en-US" sz="1600" dirty="0">
                <a:solidFill>
                  <a:srgbClr val="FF0000"/>
                </a:solidFill>
              </a:rPr>
              <a:t>등록 성공</a:t>
            </a:r>
            <a:r>
              <a:rPr lang="en-US" altLang="ko-KR" sz="1600" dirty="0">
                <a:solidFill>
                  <a:srgbClr val="FF0000"/>
                </a:solidFill>
              </a:rPr>
              <a:t>) </a:t>
            </a:r>
            <a:r>
              <a:rPr lang="ko-KR" altLang="en-US" sz="1600" dirty="0">
                <a:solidFill>
                  <a:srgbClr val="FF0000"/>
                </a:solidFill>
              </a:rPr>
              <a:t>로 표시 된 것만 하면 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3033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23" y="1019547"/>
            <a:ext cx="7134225" cy="4924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323" y="227607"/>
            <a:ext cx="7181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3) </a:t>
            </a:r>
            <a:r>
              <a:rPr lang="ko-KR" altLang="en-US" sz="1600" dirty="0" smtClean="0"/>
              <a:t>엑셀 출력은 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도서종류 기준으로 출력 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엑셀 </a:t>
            </a:r>
            <a:r>
              <a:rPr lang="ko-KR" altLang="en-US" sz="1600" dirty="0"/>
              <a:t>자료에는 국내</a:t>
            </a:r>
            <a:r>
              <a:rPr lang="en-US" altLang="ko-KR" sz="1600" dirty="0"/>
              <a:t>/</a:t>
            </a:r>
            <a:r>
              <a:rPr lang="ko-KR" altLang="en-US" sz="1600" dirty="0"/>
              <a:t>해외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좋은생각</a:t>
            </a:r>
            <a:r>
              <a:rPr lang="en-US" altLang="ko-KR" sz="1600" dirty="0"/>
              <a:t>/</a:t>
            </a:r>
            <a:r>
              <a:rPr lang="ko-KR" altLang="en-US" sz="1600" dirty="0"/>
              <a:t>큰글씨 모두 포함된 자료로 출력 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543724" y="1203158"/>
            <a:ext cx="42793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엑셀 출력 예시</a:t>
            </a:r>
            <a:r>
              <a:rPr lang="en-US" altLang="ko-KR" sz="1600" dirty="0" smtClean="0"/>
              <a:t>)</a:t>
            </a:r>
          </a:p>
          <a:p>
            <a:r>
              <a:rPr lang="ko-KR" altLang="en-US" sz="1600" dirty="0" smtClean="0"/>
              <a:t>옆에 발송자료 등록 현황으로 보면</a:t>
            </a:r>
            <a:endParaRPr lang="en-US" altLang="ko-KR" sz="1600" dirty="0" smtClean="0"/>
          </a:p>
          <a:p>
            <a:r>
              <a:rPr lang="en-US" altLang="ko-KR" sz="1600" dirty="0" smtClean="0"/>
              <a:t>1. 201605+20160429+</a:t>
            </a:r>
            <a:r>
              <a:rPr lang="ko-KR" altLang="en-US" sz="1600" dirty="0" smtClean="0"/>
              <a:t>잡지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en-US" altLang="ko-KR" sz="1600" dirty="0" smtClean="0"/>
              <a:t>2. 201604+20160429+</a:t>
            </a:r>
            <a:r>
              <a:rPr lang="ko-KR" altLang="en-US" sz="1600" dirty="0" smtClean="0"/>
              <a:t>잡지</a:t>
            </a:r>
            <a:endParaRPr lang="en-US" altLang="ko-KR" sz="1600" dirty="0" smtClean="0"/>
          </a:p>
          <a:p>
            <a:r>
              <a:rPr lang="en-US" altLang="ko-KR" sz="1600" dirty="0" smtClean="0"/>
              <a:t>3. 201605+20160602+</a:t>
            </a:r>
            <a:r>
              <a:rPr lang="ko-KR" altLang="en-US" sz="1600" dirty="0" smtClean="0"/>
              <a:t>잡지</a:t>
            </a:r>
            <a:endParaRPr lang="en-US" altLang="ko-KR" sz="1600" dirty="0" smtClean="0"/>
          </a:p>
          <a:p>
            <a:r>
              <a:rPr lang="ko-KR" altLang="en-US" sz="1600" dirty="0" smtClean="0">
                <a:solidFill>
                  <a:srgbClr val="FF0000"/>
                </a:solidFill>
              </a:rPr>
              <a:t>발송일자와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구독월호가</a:t>
            </a:r>
            <a:r>
              <a:rPr lang="ko-KR" altLang="en-US" sz="1600" dirty="0" smtClean="0">
                <a:solidFill>
                  <a:srgbClr val="FF0000"/>
                </a:solidFill>
              </a:rPr>
              <a:t> 달라 엑셀 출력을 </a:t>
            </a:r>
            <a:endParaRPr lang="en-US" altLang="ko-KR" sz="1600" dirty="0" smtClean="0">
              <a:solidFill>
                <a:srgbClr val="FF0000"/>
              </a:solidFill>
            </a:endParaRPr>
          </a:p>
          <a:p>
            <a:r>
              <a:rPr lang="en-US" altLang="ko-KR" sz="1600" dirty="0" smtClean="0">
                <a:solidFill>
                  <a:srgbClr val="FF0000"/>
                </a:solidFill>
              </a:rPr>
              <a:t>3</a:t>
            </a:r>
            <a:r>
              <a:rPr lang="ko-KR" altLang="en-US" sz="1600" dirty="0" smtClean="0">
                <a:solidFill>
                  <a:srgbClr val="FF0000"/>
                </a:solidFill>
              </a:rPr>
              <a:t>번 해야 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755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639418"/>
            <a:ext cx="8562975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0025" y="208557"/>
            <a:ext cx="41376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4) </a:t>
            </a:r>
            <a:r>
              <a:rPr lang="ko-KR" altLang="en-US" sz="1600" dirty="0" err="1" smtClean="0"/>
              <a:t>도서재발송용스티커인쇄</a:t>
            </a:r>
            <a:r>
              <a:rPr lang="ko-KR" altLang="en-US" sz="1600" dirty="0" smtClean="0"/>
              <a:t> 엑셀 출력 양식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19087" y="5760925"/>
            <a:ext cx="8905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엑셀 파일에 국내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해외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잡지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선물</a:t>
            </a:r>
            <a:r>
              <a:rPr lang="en-US" altLang="ko-KR" sz="1600" dirty="0" smtClean="0"/>
              <a:t>), </a:t>
            </a:r>
            <a:r>
              <a:rPr lang="ko-KR" altLang="en-US" sz="1600" dirty="0" smtClean="0"/>
              <a:t>택배 구분으로 엑셀 시트가 만들어 진다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53511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8885" y="95250"/>
            <a:ext cx="3744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00FF"/>
                </a:solidFill>
              </a:rPr>
              <a:t>3</a:t>
            </a:r>
            <a:r>
              <a:rPr lang="en-US" altLang="ko-KR" b="1" dirty="0" smtClean="0">
                <a:solidFill>
                  <a:srgbClr val="0000FF"/>
                </a:solidFill>
              </a:rPr>
              <a:t>. </a:t>
            </a:r>
            <a:r>
              <a:rPr lang="ko-KR" altLang="en-US" b="1" dirty="0" smtClean="0">
                <a:solidFill>
                  <a:srgbClr val="0000FF"/>
                </a:solidFill>
              </a:rPr>
              <a:t>구독자라벨출력</a:t>
            </a:r>
            <a:r>
              <a:rPr lang="en-US" altLang="ko-KR" b="1" dirty="0" smtClean="0">
                <a:solidFill>
                  <a:srgbClr val="0000FF"/>
                </a:solidFill>
              </a:rPr>
              <a:t>(DB) - </a:t>
            </a:r>
            <a:r>
              <a:rPr lang="ko-KR" altLang="en-US" b="1" dirty="0" smtClean="0">
                <a:solidFill>
                  <a:srgbClr val="0000FF"/>
                </a:solidFill>
              </a:rPr>
              <a:t>정규발송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557212"/>
            <a:ext cx="6324600" cy="437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1951" y="5114925"/>
            <a:ext cx="83357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정규발송은 발송자료 엑셀 출력 전날 발송작업예약을 걸어야 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발송작업예약을 걸면 다음날 새벽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시</a:t>
            </a:r>
            <a:r>
              <a:rPr lang="en-US" altLang="ko-KR" sz="1600" dirty="0" smtClean="0"/>
              <a:t>40</a:t>
            </a:r>
            <a:r>
              <a:rPr lang="ko-KR" altLang="en-US" sz="1600" dirty="0" smtClean="0"/>
              <a:t>분에 정규발송작업을 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정규발송은 정기구독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), </a:t>
            </a:r>
            <a:r>
              <a:rPr lang="ko-KR" altLang="en-US" sz="1600" dirty="0" smtClean="0"/>
              <a:t>다량</a:t>
            </a:r>
            <a:r>
              <a:rPr lang="en-US" altLang="ko-KR" sz="1600" dirty="0" smtClean="0"/>
              <a:t>(2</a:t>
            </a:r>
            <a:r>
              <a:rPr lang="ko-KR" altLang="en-US" sz="1600" dirty="0" err="1" smtClean="0"/>
              <a:t>권이상</a:t>
            </a:r>
            <a:r>
              <a:rPr lang="en-US" altLang="ko-KR" sz="1600" dirty="0" smtClean="0"/>
              <a:t>), </a:t>
            </a:r>
            <a:r>
              <a:rPr lang="ko-KR" altLang="en-US" sz="1600" dirty="0" smtClean="0"/>
              <a:t>해외발송 구분으로 발송작업을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나눠서 작업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다른 발송일자로 작업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00751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610136"/>
            <a:ext cx="9305925" cy="4829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0025" y="208557"/>
            <a:ext cx="3111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1) </a:t>
            </a:r>
            <a:r>
              <a:rPr lang="ko-KR" altLang="en-US" sz="1600" dirty="0" smtClean="0"/>
              <a:t>발송작업 구분으로 엑셀 출력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01651" y="4092805"/>
            <a:ext cx="86172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1-1) </a:t>
            </a:r>
            <a:r>
              <a:rPr lang="ko-KR" altLang="en-US" sz="1600" dirty="0" err="1" smtClean="0"/>
              <a:t>발송작업별</a:t>
            </a:r>
            <a:r>
              <a:rPr lang="ko-KR" altLang="en-US" sz="1600" dirty="0" smtClean="0"/>
              <a:t> 엑셀 출력 조회 조건</a:t>
            </a:r>
            <a:endParaRPr lang="en-US" altLang="ko-KR" sz="1600" dirty="0" smtClean="0"/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정기구독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권수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국가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잡지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출력구분</a:t>
            </a:r>
            <a:endParaRPr lang="en-US" altLang="ko-KR" sz="1600" dirty="0" smtClean="0">
              <a:solidFill>
                <a:srgbClr val="0000FF"/>
              </a:solidFill>
            </a:endParaRP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dirty="0" smtClean="0">
                <a:solidFill>
                  <a:srgbClr val="FF0000"/>
                </a:solidFill>
              </a:rPr>
              <a:t>※</a:t>
            </a:r>
            <a:r>
              <a:rPr lang="ko-KR" altLang="en-US" sz="1600" dirty="0" smtClean="0">
                <a:solidFill>
                  <a:srgbClr val="FF0000"/>
                </a:solidFill>
              </a:rPr>
              <a:t>정기구독</a:t>
            </a:r>
            <a:r>
              <a:rPr lang="en-US" altLang="ko-KR" sz="1600" dirty="0" smtClean="0">
                <a:solidFill>
                  <a:srgbClr val="FF0000"/>
                </a:solidFill>
              </a:rPr>
              <a:t>(1</a:t>
            </a:r>
            <a:r>
              <a:rPr lang="ko-KR" altLang="en-US" sz="1600" dirty="0" smtClean="0">
                <a:solidFill>
                  <a:srgbClr val="FF0000"/>
                </a:solidFill>
              </a:rPr>
              <a:t>권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>
                <a:solidFill>
                  <a:srgbClr val="FF0000"/>
                </a:solidFill>
              </a:rPr>
              <a:t>출력은 잡지와 </a:t>
            </a:r>
            <a:r>
              <a:rPr lang="ko-KR" altLang="en-US" sz="1600" dirty="0" smtClean="0">
                <a:solidFill>
                  <a:srgbClr val="FF0000"/>
                </a:solidFill>
              </a:rPr>
              <a:t>출력구분 으로 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err="1">
                <a:solidFill>
                  <a:srgbClr val="FF0000"/>
                </a:solidFill>
              </a:rPr>
              <a:t>만료자제외</a:t>
            </a:r>
            <a:r>
              <a:rPr lang="en-US" altLang="ko-KR" sz="1600" dirty="0">
                <a:solidFill>
                  <a:srgbClr val="FF0000"/>
                </a:solidFill>
              </a:rPr>
              <a:t>/</a:t>
            </a:r>
            <a:r>
              <a:rPr lang="ko-KR" altLang="en-US" sz="1600" dirty="0" smtClean="0">
                <a:solidFill>
                  <a:srgbClr val="FF0000"/>
                </a:solidFill>
              </a:rPr>
              <a:t>만료자만</a:t>
            </a:r>
            <a:r>
              <a:rPr lang="en-US" altLang="ko-KR" sz="16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 </a:t>
            </a:r>
            <a:r>
              <a:rPr lang="ko-KR" altLang="en-US" sz="1600" dirty="0" smtClean="0">
                <a:solidFill>
                  <a:srgbClr val="FF0000"/>
                </a:solidFill>
              </a:rPr>
              <a:t>   큰글씨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만료자제외</a:t>
            </a:r>
            <a:r>
              <a:rPr lang="en-US" altLang="ko-KR" sz="1600" dirty="0" smtClean="0">
                <a:solidFill>
                  <a:srgbClr val="FF0000"/>
                </a:solidFill>
              </a:rPr>
              <a:t>/</a:t>
            </a:r>
            <a:r>
              <a:rPr lang="ko-KR" altLang="en-US" sz="1600" dirty="0" smtClean="0">
                <a:solidFill>
                  <a:srgbClr val="FF0000"/>
                </a:solidFill>
              </a:rPr>
              <a:t>만료자만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 smtClean="0">
                <a:solidFill>
                  <a:srgbClr val="FF0000"/>
                </a:solidFill>
              </a:rPr>
              <a:t>으로 각각 출력해야 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다량</a:t>
            </a:r>
            <a:r>
              <a:rPr lang="en-US" altLang="ko-KR" sz="1600" dirty="0" smtClean="0"/>
              <a:t>(2</a:t>
            </a:r>
            <a:r>
              <a:rPr lang="ko-KR" altLang="en-US" sz="1600" dirty="0" err="1" smtClean="0"/>
              <a:t>권이상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권수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국가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</a:t>
            </a:r>
            <a:endParaRPr lang="en-US" altLang="ko-KR" sz="1600" dirty="0" smtClean="0"/>
          </a:p>
          <a:p>
            <a:r>
              <a:rPr lang="en-US" altLang="ko-KR" sz="1600" dirty="0"/>
              <a:t>   </a:t>
            </a:r>
            <a:r>
              <a:rPr lang="en-US" altLang="ko-KR" sz="1600" dirty="0" smtClean="0">
                <a:solidFill>
                  <a:srgbClr val="FF0000"/>
                </a:solidFill>
              </a:rPr>
              <a:t>※</a:t>
            </a:r>
            <a:r>
              <a:rPr lang="ko-KR" altLang="en-US" sz="1600" dirty="0" smtClean="0">
                <a:solidFill>
                  <a:srgbClr val="FF0000"/>
                </a:solidFill>
              </a:rPr>
              <a:t>다량</a:t>
            </a:r>
            <a:r>
              <a:rPr lang="en-US" altLang="ko-KR" sz="1600" dirty="0" smtClean="0">
                <a:solidFill>
                  <a:srgbClr val="FF0000"/>
                </a:solidFill>
              </a:rPr>
              <a:t>(2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권이상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 smtClean="0">
                <a:solidFill>
                  <a:srgbClr val="FF0000"/>
                </a:solidFill>
              </a:rPr>
              <a:t>출력은 잡지와 출력구분이 없이 잡지전체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FF0000"/>
                </a:solidFill>
              </a:rPr>
              <a:t>,</a:t>
            </a:r>
            <a:r>
              <a:rPr lang="ko-KR" altLang="en-US" sz="1600" dirty="0" smtClean="0">
                <a:solidFill>
                  <a:srgbClr val="FF0000"/>
                </a:solidFill>
              </a:rPr>
              <a:t>큰글씨</a:t>
            </a:r>
            <a:r>
              <a:rPr lang="en-US" altLang="ko-KR" sz="1600" dirty="0" smtClean="0">
                <a:solidFill>
                  <a:srgbClr val="FF0000"/>
                </a:solidFill>
              </a:rPr>
              <a:t>),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    </a:t>
            </a:r>
            <a:r>
              <a:rPr lang="ko-KR" altLang="en-US" sz="1600" dirty="0" smtClean="0">
                <a:solidFill>
                  <a:srgbClr val="FF0000"/>
                </a:solidFill>
              </a:rPr>
              <a:t>출력구분전체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만료자제외</a:t>
            </a:r>
            <a:r>
              <a:rPr lang="en-US" altLang="ko-KR" sz="1600" dirty="0" smtClean="0">
                <a:solidFill>
                  <a:srgbClr val="FF0000"/>
                </a:solidFill>
              </a:rPr>
              <a:t>,</a:t>
            </a:r>
            <a:r>
              <a:rPr lang="ko-KR" altLang="en-US" sz="1600" dirty="0" smtClean="0">
                <a:solidFill>
                  <a:srgbClr val="FF0000"/>
                </a:solidFill>
              </a:rPr>
              <a:t>만료자만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 smtClean="0">
                <a:solidFill>
                  <a:srgbClr val="FF0000"/>
                </a:solidFill>
              </a:rPr>
              <a:t>로 출력되니 중복 출력 안 되게 주의 바람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334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775" y="381000"/>
            <a:ext cx="111728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1-3) </a:t>
            </a:r>
            <a:r>
              <a:rPr lang="ko-KR" altLang="en-US" sz="1600" dirty="0"/>
              <a:t>엑셀 출력 예시</a:t>
            </a:r>
            <a:endParaRPr lang="en-US" altLang="ko-KR" sz="1600" dirty="0" smtClean="0"/>
          </a:p>
          <a:p>
            <a:r>
              <a:rPr lang="en-US" altLang="ko-KR" sz="1600" dirty="0" smtClean="0"/>
              <a:t> 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정기구독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)+</a:t>
            </a:r>
            <a:r>
              <a:rPr lang="ko-KR" altLang="en-US" sz="1600" dirty="0" smtClean="0"/>
              <a:t>국내 </a:t>
            </a:r>
            <a:r>
              <a:rPr lang="ko-KR" altLang="en-US" sz="1600" dirty="0" err="1" smtClean="0"/>
              <a:t>일때</a:t>
            </a:r>
            <a:r>
              <a:rPr lang="ko-KR" altLang="en-US" sz="1600" dirty="0" smtClean="0"/>
              <a:t> 전날 발송작업예약 된 내용과 동일한 조건으로 엑셀 출력</a:t>
            </a:r>
            <a:endParaRPr lang="en-US" altLang="ko-KR" sz="1600" dirty="0" smtClean="0"/>
          </a:p>
          <a:p>
            <a:r>
              <a:rPr lang="en-US" altLang="ko-KR" sz="1600" dirty="0" smtClean="0"/>
              <a:t>     </a:t>
            </a:r>
            <a:r>
              <a:rPr lang="en-US" altLang="ko-KR" sz="1600" dirty="0" smtClean="0">
                <a:solidFill>
                  <a:srgbClr val="0000FF"/>
                </a:solidFill>
              </a:rPr>
              <a:t>a) 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구독월호</a:t>
            </a:r>
            <a:r>
              <a:rPr lang="en-US" altLang="ko-KR" sz="1600" dirty="0" smtClean="0">
                <a:solidFill>
                  <a:srgbClr val="0000FF"/>
                </a:solidFill>
              </a:rPr>
              <a:t>+1</a:t>
            </a:r>
            <a:r>
              <a:rPr lang="ko-KR" altLang="en-US" sz="1600" dirty="0" smtClean="0">
                <a:solidFill>
                  <a:srgbClr val="0000FF"/>
                </a:solidFill>
              </a:rPr>
              <a:t>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국내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만료자만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발송일자</a:t>
            </a:r>
            <a:endParaRPr lang="en-US" altLang="ko-KR" sz="1600" dirty="0" smtClean="0">
              <a:solidFill>
                <a:srgbClr val="0000FF"/>
              </a:solidFill>
            </a:endParaRPr>
          </a:p>
          <a:p>
            <a:r>
              <a:rPr lang="ko-KR" altLang="en-US" sz="1600" dirty="0" smtClean="0">
                <a:solidFill>
                  <a:srgbClr val="0000FF"/>
                </a:solidFill>
              </a:rPr>
              <a:t>     </a:t>
            </a:r>
            <a:r>
              <a:rPr lang="en-US" altLang="ko-KR" sz="1600" dirty="0" smtClean="0">
                <a:solidFill>
                  <a:srgbClr val="0000FF"/>
                </a:solidFill>
              </a:rPr>
              <a:t>b) 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큰글씨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국내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만료자만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발송일자</a:t>
            </a:r>
            <a:endParaRPr lang="en-US" altLang="ko-KR" sz="1600" dirty="0" smtClean="0">
              <a:solidFill>
                <a:srgbClr val="0000FF"/>
              </a:solidFill>
            </a:endParaRPr>
          </a:p>
          <a:p>
            <a:r>
              <a:rPr lang="ko-KR" altLang="en-US" sz="1600" dirty="0" smtClean="0">
                <a:solidFill>
                  <a:srgbClr val="0000FF"/>
                </a:solidFill>
              </a:rPr>
              <a:t>     </a:t>
            </a:r>
            <a:r>
              <a:rPr lang="en-US" altLang="ko-KR" sz="1600" dirty="0" smtClean="0">
                <a:solidFill>
                  <a:srgbClr val="0000FF"/>
                </a:solidFill>
              </a:rPr>
              <a:t>c) 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좋은생각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국내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만료자제외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발송일자</a:t>
            </a:r>
            <a:endParaRPr lang="en-US" altLang="ko-KR" sz="1600" dirty="0" smtClean="0">
              <a:solidFill>
                <a:srgbClr val="0000FF"/>
              </a:solidFill>
            </a:endParaRPr>
          </a:p>
          <a:p>
            <a:r>
              <a:rPr lang="ko-KR" altLang="en-US" sz="1600" dirty="0" smtClean="0">
                <a:solidFill>
                  <a:srgbClr val="0000FF"/>
                </a:solidFill>
              </a:rPr>
              <a:t>     </a:t>
            </a:r>
            <a:r>
              <a:rPr lang="en-US" altLang="ko-KR" sz="1600" dirty="0" smtClean="0">
                <a:solidFill>
                  <a:srgbClr val="0000FF"/>
                </a:solidFill>
              </a:rPr>
              <a:t>d) </a:t>
            </a:r>
            <a:r>
              <a:rPr lang="ko-KR" altLang="en-US" sz="1600" dirty="0" err="1" smtClean="0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큰글씨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국내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만료자제외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발송일자</a:t>
            </a:r>
            <a:endParaRPr lang="en-US" altLang="ko-KR" sz="1600" dirty="0" smtClean="0">
              <a:solidFill>
                <a:srgbClr val="0000FF"/>
              </a:solidFill>
            </a:endParaRPr>
          </a:p>
          <a:p>
            <a:r>
              <a:rPr lang="en-US" altLang="ko-KR" sz="1600" dirty="0" smtClean="0"/>
              <a:t>  ii</a:t>
            </a:r>
            <a:r>
              <a:rPr lang="en-US" altLang="ko-KR" sz="1600" dirty="0"/>
              <a:t>. </a:t>
            </a:r>
            <a:r>
              <a:rPr lang="ko-KR" altLang="en-US" sz="1600" dirty="0"/>
              <a:t>정기구독</a:t>
            </a:r>
            <a:r>
              <a:rPr lang="en-US" altLang="ko-KR" sz="1600" dirty="0"/>
              <a:t>(1</a:t>
            </a:r>
            <a:r>
              <a:rPr lang="ko-KR" altLang="en-US" sz="1600" dirty="0"/>
              <a:t>권</a:t>
            </a:r>
            <a:r>
              <a:rPr lang="en-US" altLang="ko-KR" sz="1600" dirty="0"/>
              <a:t>)+</a:t>
            </a:r>
            <a:r>
              <a:rPr lang="ko-KR" altLang="en-US" sz="1600" dirty="0"/>
              <a:t>해외 </a:t>
            </a:r>
            <a:r>
              <a:rPr lang="ko-KR" altLang="en-US" sz="1600" dirty="0" err="1"/>
              <a:t>일때</a:t>
            </a:r>
            <a:r>
              <a:rPr lang="ko-KR" altLang="en-US" sz="1600" dirty="0"/>
              <a:t> 전날 발송작업예약 된 </a:t>
            </a:r>
            <a:r>
              <a:rPr lang="ko-KR" altLang="en-US" sz="1600" dirty="0" smtClean="0"/>
              <a:t>내용과 동일한 </a:t>
            </a:r>
            <a:r>
              <a:rPr lang="ko-KR" altLang="en-US" sz="1600" dirty="0"/>
              <a:t>조건으로 엑셀 출력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a) </a:t>
            </a:r>
            <a:r>
              <a:rPr lang="ko-KR" altLang="en-US" sz="1600" dirty="0" err="1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해외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만료자만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발송일자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ko-KR" altLang="en-US" sz="1600" dirty="0">
                <a:solidFill>
                  <a:srgbClr val="0000FF"/>
                </a:solidFill>
              </a:rPr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b) </a:t>
            </a:r>
            <a:r>
              <a:rPr lang="ko-KR" altLang="en-US" sz="1600" dirty="0" err="1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큰글씨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해외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만료자만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발송일자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ko-KR" altLang="en-US" sz="1600" dirty="0">
                <a:solidFill>
                  <a:srgbClr val="0000FF"/>
                </a:solidFill>
              </a:rPr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c) </a:t>
            </a:r>
            <a:r>
              <a:rPr lang="ko-KR" altLang="en-US" sz="1600" dirty="0" err="1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해외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만료자제외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발송일자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ko-KR" altLang="en-US" sz="1600" dirty="0">
                <a:solidFill>
                  <a:srgbClr val="0000FF"/>
                </a:solidFill>
              </a:rPr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d) </a:t>
            </a:r>
            <a:r>
              <a:rPr lang="ko-KR" altLang="en-US" sz="1600" dirty="0" err="1">
                <a:solidFill>
                  <a:srgbClr val="0000FF"/>
                </a:solidFill>
              </a:rPr>
              <a:t>구독월호</a:t>
            </a:r>
            <a:r>
              <a:rPr lang="en-US" altLang="ko-KR" sz="1600" dirty="0">
                <a:solidFill>
                  <a:srgbClr val="0000FF"/>
                </a:solidFill>
              </a:rPr>
              <a:t>+1</a:t>
            </a:r>
            <a:r>
              <a:rPr lang="ko-KR" altLang="en-US" sz="1600" dirty="0">
                <a:solidFill>
                  <a:srgbClr val="0000FF"/>
                </a:solidFill>
              </a:rPr>
              <a:t>권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큰글씨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해외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err="1">
                <a:solidFill>
                  <a:srgbClr val="0000FF"/>
                </a:solidFill>
              </a:rPr>
              <a:t>만료자제외</a:t>
            </a:r>
            <a:r>
              <a:rPr lang="en-US" altLang="ko-KR" sz="1600" dirty="0">
                <a:solidFill>
                  <a:srgbClr val="0000FF"/>
                </a:solidFill>
              </a:rPr>
              <a:t>+</a:t>
            </a:r>
            <a:r>
              <a:rPr lang="ko-KR" altLang="en-US" sz="1600" dirty="0">
                <a:solidFill>
                  <a:srgbClr val="0000FF"/>
                </a:solidFill>
              </a:rPr>
              <a:t>발송일자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iii</a:t>
            </a:r>
            <a:r>
              <a:rPr lang="en-US" altLang="ko-KR" sz="1600" dirty="0"/>
              <a:t>. </a:t>
            </a:r>
            <a:r>
              <a:rPr lang="ko-KR" altLang="en-US" sz="1600" dirty="0" smtClean="0"/>
              <a:t>다량</a:t>
            </a:r>
            <a:r>
              <a:rPr lang="en-US" altLang="ko-KR" sz="1600" dirty="0" smtClean="0"/>
              <a:t>(2</a:t>
            </a:r>
            <a:r>
              <a:rPr lang="ko-KR" altLang="en-US" sz="1600" dirty="0" err="1" smtClean="0"/>
              <a:t>권이상</a:t>
            </a:r>
            <a:r>
              <a:rPr lang="en-US" altLang="ko-KR" sz="1600" dirty="0" smtClean="0"/>
              <a:t>)+</a:t>
            </a:r>
            <a:r>
              <a:rPr lang="ko-KR" altLang="en-US" sz="1600" dirty="0"/>
              <a:t>국내 </a:t>
            </a:r>
            <a:r>
              <a:rPr lang="ko-KR" altLang="en-US" sz="1600" dirty="0" err="1"/>
              <a:t>일때</a:t>
            </a:r>
            <a:r>
              <a:rPr lang="ko-KR" altLang="en-US" sz="1600" dirty="0"/>
              <a:t> 전날 발송작업예약 된 </a:t>
            </a:r>
            <a:r>
              <a:rPr lang="ko-KR" altLang="en-US" sz="1600" dirty="0" smtClean="0"/>
              <a:t>내용에서 </a:t>
            </a:r>
            <a:r>
              <a:rPr lang="ko-KR" altLang="en-US" sz="1600" dirty="0" err="1" smtClean="0"/>
              <a:t>구독월호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권수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국가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발송일자 조건으로만 </a:t>
            </a:r>
            <a:r>
              <a:rPr lang="ko-KR" altLang="en-US" sz="1600" dirty="0"/>
              <a:t>엑셀 출력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a) </a:t>
            </a:r>
            <a:r>
              <a:rPr lang="ko-KR" altLang="en-US" sz="1600" dirty="0" err="1">
                <a:solidFill>
                  <a:srgbClr val="0000FF"/>
                </a:solidFill>
              </a:rPr>
              <a:t>구독월호</a:t>
            </a:r>
            <a:r>
              <a:rPr lang="en-US" altLang="ko-KR" sz="1600" dirty="0" smtClean="0">
                <a:solidFill>
                  <a:srgbClr val="0000FF"/>
                </a:solidFill>
              </a:rPr>
              <a:t>+2</a:t>
            </a:r>
            <a:r>
              <a:rPr lang="ko-KR" altLang="en-US" sz="1600" dirty="0" smtClean="0">
                <a:solidFill>
                  <a:srgbClr val="0000FF"/>
                </a:solidFill>
              </a:rPr>
              <a:t>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국내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발송일자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ko-KR" altLang="en-US" sz="1600" dirty="0">
                <a:solidFill>
                  <a:srgbClr val="0000FF"/>
                </a:solidFill>
              </a:rPr>
              <a:t>     </a:t>
            </a:r>
            <a:r>
              <a:rPr lang="en-US" altLang="ko-KR" sz="1600" dirty="0">
                <a:solidFill>
                  <a:srgbClr val="0000FF"/>
                </a:solidFill>
              </a:rPr>
              <a:t>b) </a:t>
            </a:r>
            <a:r>
              <a:rPr lang="ko-KR" altLang="en-US" sz="1600" dirty="0" err="1">
                <a:solidFill>
                  <a:srgbClr val="0000FF"/>
                </a:solidFill>
              </a:rPr>
              <a:t>구독월호</a:t>
            </a:r>
            <a:r>
              <a:rPr lang="en-US" altLang="ko-KR" sz="1600" dirty="0" smtClean="0">
                <a:solidFill>
                  <a:srgbClr val="0000FF"/>
                </a:solidFill>
              </a:rPr>
              <a:t>+2</a:t>
            </a:r>
            <a:r>
              <a:rPr lang="ko-KR" altLang="en-US" sz="1600" dirty="0" smtClean="0">
                <a:solidFill>
                  <a:srgbClr val="0000FF"/>
                </a:solidFill>
              </a:rPr>
              <a:t>권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해외</a:t>
            </a:r>
            <a:r>
              <a:rPr lang="en-US" altLang="ko-KR" sz="1600" dirty="0" smtClean="0">
                <a:solidFill>
                  <a:srgbClr val="0000FF"/>
                </a:solidFill>
              </a:rPr>
              <a:t>+</a:t>
            </a:r>
            <a:r>
              <a:rPr lang="ko-KR" altLang="en-US" sz="1600" dirty="0" smtClean="0">
                <a:solidFill>
                  <a:srgbClr val="0000FF"/>
                </a:solidFill>
              </a:rPr>
              <a:t>발송일자</a:t>
            </a:r>
            <a:r>
              <a:rPr lang="en-US" altLang="ko-KR" sz="1600" dirty="0" smtClean="0"/>
              <a:t>  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231529" y="4694667"/>
            <a:ext cx="95381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FF0000"/>
                </a:solidFill>
              </a:rPr>
              <a:t>-. </a:t>
            </a:r>
            <a:r>
              <a:rPr lang="ko-KR" altLang="en-US" sz="1600" dirty="0" smtClean="0">
                <a:solidFill>
                  <a:srgbClr val="FF0000"/>
                </a:solidFill>
              </a:rPr>
              <a:t>권수 </a:t>
            </a:r>
            <a:r>
              <a:rPr lang="en-US" altLang="ko-KR" sz="1600" dirty="0" smtClean="0">
                <a:solidFill>
                  <a:srgbClr val="FF0000"/>
                </a:solidFill>
              </a:rPr>
              <a:t>1</a:t>
            </a:r>
            <a:r>
              <a:rPr lang="ko-KR" altLang="en-US" sz="1600" dirty="0" smtClean="0">
                <a:solidFill>
                  <a:srgbClr val="FF0000"/>
                </a:solidFill>
              </a:rPr>
              <a:t>권 </a:t>
            </a:r>
            <a:r>
              <a:rPr lang="en-US" altLang="ko-KR" sz="1600" dirty="0" smtClean="0">
                <a:solidFill>
                  <a:srgbClr val="FF0000"/>
                </a:solidFill>
              </a:rPr>
              <a:t>: </a:t>
            </a:r>
            <a:r>
              <a:rPr lang="ko-KR" altLang="en-US" sz="1600" dirty="0" smtClean="0">
                <a:solidFill>
                  <a:srgbClr val="FF0000"/>
                </a:solidFill>
              </a:rPr>
              <a:t>정기구독</a:t>
            </a:r>
            <a:r>
              <a:rPr lang="en-US" altLang="ko-KR" sz="1600" dirty="0" smtClean="0">
                <a:solidFill>
                  <a:srgbClr val="FF0000"/>
                </a:solidFill>
              </a:rPr>
              <a:t>(1</a:t>
            </a:r>
            <a:r>
              <a:rPr lang="ko-KR" altLang="en-US" sz="1600" dirty="0" smtClean="0">
                <a:solidFill>
                  <a:srgbClr val="FF0000"/>
                </a:solidFill>
              </a:rPr>
              <a:t>권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 smtClean="0">
                <a:solidFill>
                  <a:srgbClr val="FF0000"/>
                </a:solidFill>
              </a:rPr>
              <a:t>일 때 잡지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좋은생각</a:t>
            </a:r>
            <a:r>
              <a:rPr lang="en-US" altLang="ko-KR" sz="1600" dirty="0" smtClean="0">
                <a:solidFill>
                  <a:srgbClr val="FF0000"/>
                </a:solidFill>
              </a:rPr>
              <a:t>,</a:t>
            </a:r>
            <a:r>
              <a:rPr lang="ko-KR" altLang="en-US" sz="1600" dirty="0" smtClean="0">
                <a:solidFill>
                  <a:srgbClr val="FF0000"/>
                </a:solidFill>
              </a:rPr>
              <a:t>큰글씨</a:t>
            </a:r>
            <a:r>
              <a:rPr lang="en-US" altLang="ko-KR" sz="1600" dirty="0" smtClean="0">
                <a:solidFill>
                  <a:srgbClr val="FF0000"/>
                </a:solidFill>
              </a:rPr>
              <a:t>)</a:t>
            </a:r>
            <a:r>
              <a:rPr lang="ko-KR" altLang="en-US" sz="1600" dirty="0" smtClean="0">
                <a:solidFill>
                  <a:srgbClr val="FF0000"/>
                </a:solidFill>
              </a:rPr>
              <a:t>별 </a:t>
            </a:r>
            <a:r>
              <a:rPr lang="en-US" altLang="ko-KR" sz="1600" dirty="0" smtClean="0">
                <a:solidFill>
                  <a:srgbClr val="FF0000"/>
                </a:solidFill>
              </a:rPr>
              <a:t>, </a:t>
            </a:r>
            <a:r>
              <a:rPr lang="ko-KR" altLang="en-US" sz="1600" dirty="0" smtClean="0">
                <a:solidFill>
                  <a:srgbClr val="FF0000"/>
                </a:solidFill>
              </a:rPr>
              <a:t>국가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smtClean="0">
                <a:solidFill>
                  <a:srgbClr val="FF0000"/>
                </a:solidFill>
              </a:rPr>
              <a:t>국내</a:t>
            </a:r>
            <a:r>
              <a:rPr lang="en-US" altLang="ko-KR" sz="1600" dirty="0" smtClean="0">
                <a:solidFill>
                  <a:srgbClr val="FF0000"/>
                </a:solidFill>
              </a:rPr>
              <a:t>,</a:t>
            </a:r>
            <a:r>
              <a:rPr lang="ko-KR" altLang="en-US" sz="1600" dirty="0" smtClean="0">
                <a:solidFill>
                  <a:srgbClr val="FF0000"/>
                </a:solidFill>
              </a:rPr>
              <a:t>해외</a:t>
            </a:r>
            <a:r>
              <a:rPr lang="en-US" altLang="ko-KR" sz="1600" dirty="0" smtClean="0">
                <a:solidFill>
                  <a:srgbClr val="FF0000"/>
                </a:solidFill>
              </a:rPr>
              <a:t>)</a:t>
            </a:r>
            <a:r>
              <a:rPr lang="ko-KR" altLang="en-US" sz="1600" dirty="0" smtClean="0">
                <a:solidFill>
                  <a:srgbClr val="FF0000"/>
                </a:solidFill>
              </a:rPr>
              <a:t>별 로 각각 출력 해야 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600" dirty="0" smtClean="0">
                <a:solidFill>
                  <a:srgbClr val="FF0000"/>
                </a:solidFill>
              </a:rPr>
              <a:t>-. </a:t>
            </a:r>
            <a:r>
              <a:rPr lang="ko-KR" altLang="en-US" sz="1600" dirty="0" smtClean="0">
                <a:solidFill>
                  <a:srgbClr val="FF0000"/>
                </a:solidFill>
              </a:rPr>
              <a:t>권수 </a:t>
            </a:r>
            <a:r>
              <a:rPr lang="en-US" altLang="ko-KR" sz="1600" dirty="0" smtClean="0">
                <a:solidFill>
                  <a:srgbClr val="FF0000"/>
                </a:solidFill>
              </a:rPr>
              <a:t>2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권이상</a:t>
            </a:r>
            <a:r>
              <a:rPr lang="ko-KR" altLang="en-US" sz="1600" dirty="0" smtClean="0">
                <a:solidFill>
                  <a:srgbClr val="FF0000"/>
                </a:solidFill>
              </a:rPr>
              <a:t> </a:t>
            </a:r>
            <a:r>
              <a:rPr lang="en-US" altLang="ko-KR" sz="1600" dirty="0" smtClean="0">
                <a:solidFill>
                  <a:srgbClr val="FF0000"/>
                </a:solidFill>
              </a:rPr>
              <a:t>: </a:t>
            </a:r>
            <a:r>
              <a:rPr lang="ko-KR" altLang="en-US" sz="1600" dirty="0" smtClean="0">
                <a:solidFill>
                  <a:srgbClr val="FF0000"/>
                </a:solidFill>
              </a:rPr>
              <a:t>다량</a:t>
            </a:r>
            <a:r>
              <a:rPr lang="en-US" altLang="ko-KR" sz="1600" dirty="0" smtClean="0">
                <a:solidFill>
                  <a:srgbClr val="FF0000"/>
                </a:solidFill>
              </a:rPr>
              <a:t>(2</a:t>
            </a:r>
            <a:r>
              <a:rPr lang="ko-KR" altLang="en-US" sz="1600" dirty="0" err="1" smtClean="0">
                <a:solidFill>
                  <a:srgbClr val="FF0000"/>
                </a:solidFill>
              </a:rPr>
              <a:t>권이상</a:t>
            </a:r>
            <a:r>
              <a:rPr lang="en-US" altLang="ko-KR" sz="1600" dirty="0" smtClean="0">
                <a:solidFill>
                  <a:srgbClr val="FF0000"/>
                </a:solidFill>
              </a:rPr>
              <a:t>) </a:t>
            </a:r>
            <a:r>
              <a:rPr lang="ko-KR" altLang="en-US" sz="1600" dirty="0" smtClean="0">
                <a:solidFill>
                  <a:srgbClr val="FF0000"/>
                </a:solidFill>
              </a:rPr>
              <a:t>일 때 국가</a:t>
            </a:r>
            <a:r>
              <a:rPr lang="en-US" altLang="ko-KR" sz="1600" dirty="0" smtClean="0">
                <a:solidFill>
                  <a:srgbClr val="FF0000"/>
                </a:solidFill>
              </a:rPr>
              <a:t>(</a:t>
            </a:r>
            <a:r>
              <a:rPr lang="ko-KR" altLang="en-US" sz="1600" dirty="0" smtClean="0">
                <a:solidFill>
                  <a:srgbClr val="FF0000"/>
                </a:solidFill>
              </a:rPr>
              <a:t>국내</a:t>
            </a:r>
            <a:r>
              <a:rPr lang="en-US" altLang="ko-KR" sz="1600" dirty="0" smtClean="0">
                <a:solidFill>
                  <a:srgbClr val="FF0000"/>
                </a:solidFill>
              </a:rPr>
              <a:t>,</a:t>
            </a:r>
            <a:r>
              <a:rPr lang="ko-KR" altLang="en-US" sz="1600" dirty="0" smtClean="0">
                <a:solidFill>
                  <a:srgbClr val="FF0000"/>
                </a:solidFill>
              </a:rPr>
              <a:t>해외</a:t>
            </a:r>
            <a:r>
              <a:rPr lang="en-US" altLang="ko-KR" sz="1600" dirty="0" smtClean="0">
                <a:solidFill>
                  <a:srgbClr val="FF0000"/>
                </a:solidFill>
              </a:rPr>
              <a:t>)</a:t>
            </a:r>
            <a:r>
              <a:rPr lang="ko-KR" altLang="en-US" sz="1600" dirty="0" smtClean="0">
                <a:solidFill>
                  <a:srgbClr val="FF0000"/>
                </a:solidFill>
              </a:rPr>
              <a:t>별 로 각각 출력 해야 한다</a:t>
            </a:r>
            <a:r>
              <a:rPr lang="en-US" altLang="ko-KR" sz="1600" dirty="0" smtClean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124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150" y="375702"/>
            <a:ext cx="89679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1-2) </a:t>
            </a:r>
            <a:r>
              <a:rPr lang="ko-KR" altLang="en-US" sz="1600" dirty="0" err="1" smtClean="0"/>
              <a:t>발송작업별</a:t>
            </a:r>
            <a:r>
              <a:rPr lang="ko-KR" altLang="en-US" sz="1600" dirty="0" smtClean="0"/>
              <a:t> 엑셀 시트 구성</a:t>
            </a:r>
            <a:endParaRPr lang="en-US" altLang="ko-KR" sz="1600" dirty="0" smtClean="0"/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정기구독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), </a:t>
            </a:r>
            <a:r>
              <a:rPr lang="ko-KR" altLang="en-US" sz="1600" dirty="0" smtClean="0"/>
              <a:t>정규출력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만료자제외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국내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정규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5 / </a:t>
            </a:r>
            <a:r>
              <a:rPr lang="ko-KR" altLang="en-US" sz="1600" dirty="0" smtClean="0"/>
              <a:t>정규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6</a:t>
            </a:r>
            <a:r>
              <a:rPr lang="ko-KR" altLang="en-US" sz="1600" dirty="0" smtClean="0"/>
              <a:t> 시트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개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해외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정규 시트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개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정기구독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), </a:t>
            </a:r>
            <a:r>
              <a:rPr lang="ko-KR" altLang="en-US" sz="1600" dirty="0" smtClean="0"/>
              <a:t>만료자만 출력</a:t>
            </a:r>
            <a:endParaRPr lang="en-US" altLang="ko-KR" sz="1600" dirty="0" smtClean="0"/>
          </a:p>
          <a:p>
            <a:r>
              <a:rPr lang="ko-KR" altLang="en-US" sz="1600" dirty="0" smtClean="0"/>
              <a:t>   국내 </a:t>
            </a:r>
            <a:r>
              <a:rPr lang="en-US" altLang="ko-KR" sz="1600" dirty="0" smtClean="0"/>
              <a:t>: </a:t>
            </a:r>
            <a:r>
              <a:rPr lang="ko-KR" altLang="en-US" sz="1600" dirty="0" err="1" smtClean="0"/>
              <a:t>연속성있음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5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/ </a:t>
            </a:r>
            <a:r>
              <a:rPr lang="ko-KR" altLang="en-US" sz="1600" dirty="0" err="1" smtClean="0"/>
              <a:t>연속성없음</a:t>
            </a:r>
            <a:r>
              <a:rPr lang="en-US" altLang="ko-KR" sz="1600" dirty="0" smtClean="0"/>
              <a:t>_</a:t>
            </a:r>
            <a:r>
              <a:rPr lang="ko-KR" altLang="en-US" sz="1600" dirty="0"/>
              <a:t>우편</a:t>
            </a:r>
            <a:r>
              <a:rPr lang="en-US" altLang="ko-KR" sz="1600" dirty="0"/>
              <a:t>5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r>
              <a:rPr lang="en-US" altLang="ko-KR" sz="1600" dirty="0" smtClean="0"/>
              <a:t>           </a:t>
            </a:r>
            <a:r>
              <a:rPr lang="ko-KR" altLang="en-US" sz="1600" dirty="0" err="1" smtClean="0"/>
              <a:t>연속성있음</a:t>
            </a:r>
            <a:r>
              <a:rPr lang="en-US" altLang="ko-KR" sz="1600" dirty="0"/>
              <a:t>_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6</a:t>
            </a:r>
            <a:r>
              <a:rPr lang="ko-KR" altLang="en-US" sz="1600" dirty="0" smtClean="0"/>
              <a:t> </a:t>
            </a:r>
            <a:r>
              <a:rPr lang="en-US" altLang="ko-KR" sz="1600" dirty="0"/>
              <a:t>/ </a:t>
            </a:r>
            <a:r>
              <a:rPr lang="ko-KR" altLang="en-US" sz="1600" dirty="0" err="1" smtClean="0"/>
              <a:t>연속성없음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우편</a:t>
            </a:r>
            <a:r>
              <a:rPr lang="en-US" altLang="ko-KR" sz="1600" dirty="0" smtClean="0"/>
              <a:t>6 </a:t>
            </a:r>
            <a:r>
              <a:rPr lang="ko-KR" altLang="en-US" sz="1600" dirty="0" smtClean="0"/>
              <a:t>시트 </a:t>
            </a:r>
            <a:r>
              <a:rPr lang="en-US" altLang="ko-KR" sz="1600" dirty="0" smtClean="0"/>
              <a:t>4</a:t>
            </a:r>
            <a:r>
              <a:rPr lang="ko-KR" altLang="en-US" sz="1600" dirty="0" smtClean="0"/>
              <a:t>개</a:t>
            </a:r>
            <a:endParaRPr lang="en-US" altLang="ko-KR" sz="1600" dirty="0"/>
          </a:p>
          <a:p>
            <a:r>
              <a:rPr lang="en-US" altLang="ko-KR" sz="1600" dirty="0" smtClean="0"/>
              <a:t>   </a:t>
            </a:r>
            <a:r>
              <a:rPr lang="ko-KR" altLang="en-US" sz="1600" dirty="0" smtClean="0"/>
              <a:t>해외 </a:t>
            </a:r>
            <a:r>
              <a:rPr lang="en-US" altLang="ko-KR" sz="1600" dirty="0" smtClean="0"/>
              <a:t>: </a:t>
            </a:r>
            <a:r>
              <a:rPr lang="ko-KR" altLang="en-US" sz="1600" dirty="0" err="1" smtClean="0"/>
              <a:t>연속성있음</a:t>
            </a:r>
            <a:r>
              <a:rPr lang="ko-KR" altLang="en-US" sz="1600" dirty="0" smtClean="0"/>
              <a:t> </a:t>
            </a:r>
            <a:r>
              <a:rPr lang="en-US" altLang="ko-KR" sz="1600" dirty="0"/>
              <a:t>/ </a:t>
            </a:r>
            <a:r>
              <a:rPr lang="ko-KR" altLang="en-US" sz="1600" dirty="0" err="1" smtClean="0"/>
              <a:t>연속성없음</a:t>
            </a:r>
            <a:r>
              <a:rPr lang="ko-KR" altLang="en-US" sz="1600" dirty="0" smtClean="0"/>
              <a:t> 시트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개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다량</a:t>
            </a:r>
            <a:r>
              <a:rPr lang="en-US" altLang="ko-KR" sz="1600" dirty="0" smtClean="0"/>
              <a:t>(2</a:t>
            </a:r>
            <a:r>
              <a:rPr lang="ko-KR" altLang="en-US" sz="1600" dirty="0" err="1" smtClean="0"/>
              <a:t>권이상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우편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택배 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정규 시트 </a:t>
            </a:r>
            <a:r>
              <a:rPr lang="en-US" altLang="ko-KR" sz="1600" dirty="0" smtClean="0"/>
              <a:t>3</a:t>
            </a:r>
            <a:r>
              <a:rPr lang="ko-KR" altLang="en-US" sz="1600" dirty="0" smtClean="0"/>
              <a:t>개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3746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569297"/>
            <a:ext cx="9201150" cy="5343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5" y="230743"/>
            <a:ext cx="71160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2-1) </a:t>
            </a:r>
            <a:r>
              <a:rPr lang="ko-KR" altLang="en-US" sz="1600" dirty="0" smtClean="0"/>
              <a:t>정규발송 엑셀 출력 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국내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정규출력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만료자제외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일 때 엑셀 자료</a:t>
            </a:r>
            <a:endParaRPr lang="ko-KR" alt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3442631" y="5968563"/>
            <a:ext cx="5243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우편번호 </a:t>
            </a:r>
            <a:r>
              <a:rPr lang="en-US" altLang="ko-KR" sz="1600" dirty="0" smtClean="0"/>
              <a:t>5</a:t>
            </a:r>
            <a:r>
              <a:rPr lang="ko-KR" altLang="en-US" sz="1600" dirty="0" smtClean="0"/>
              <a:t>자리</a:t>
            </a:r>
            <a:r>
              <a:rPr lang="en-US" altLang="ko-KR" sz="1600" dirty="0" smtClean="0"/>
              <a:t>, 6</a:t>
            </a:r>
            <a:r>
              <a:rPr lang="ko-KR" altLang="en-US" sz="1600" dirty="0" smtClean="0"/>
              <a:t>자리 자료를 시트로 나눠서 출력된다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70035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6" y="569297"/>
            <a:ext cx="11500686" cy="4885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25" y="230743"/>
            <a:ext cx="6447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2-2) </a:t>
            </a:r>
            <a:r>
              <a:rPr lang="ko-KR" altLang="en-US" sz="1600" dirty="0" smtClean="0"/>
              <a:t>정규발송 엑셀 출력 </a:t>
            </a:r>
            <a:r>
              <a:rPr lang="en-US" altLang="ko-KR" sz="1600" dirty="0" smtClean="0"/>
              <a:t>: 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국내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만료자만 출력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일 때 엑셀 자료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433013" y="5545373"/>
            <a:ext cx="5243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우편번호 </a:t>
            </a:r>
            <a:r>
              <a:rPr lang="en-US" altLang="ko-KR" sz="1600" dirty="0" smtClean="0"/>
              <a:t>5</a:t>
            </a:r>
            <a:r>
              <a:rPr lang="ko-KR" altLang="en-US" sz="1600" dirty="0" smtClean="0"/>
              <a:t>자리</a:t>
            </a:r>
            <a:r>
              <a:rPr lang="en-US" altLang="ko-KR" sz="1600" dirty="0" smtClean="0"/>
              <a:t>, 6</a:t>
            </a:r>
            <a:r>
              <a:rPr lang="ko-KR" altLang="en-US" sz="1600" dirty="0" smtClean="0"/>
              <a:t>자리 자료를 시트로 나눠서 출력된다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8734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39" y="625212"/>
            <a:ext cx="9229725" cy="530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25" y="230743"/>
            <a:ext cx="7670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2-3) </a:t>
            </a:r>
            <a:r>
              <a:rPr lang="ko-KR" altLang="en-US" sz="1600" dirty="0" smtClean="0"/>
              <a:t>정규발송 엑셀 출력 </a:t>
            </a:r>
            <a:r>
              <a:rPr lang="en-US" altLang="ko-KR" sz="1600" dirty="0" smtClean="0"/>
              <a:t>: 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해외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정규출력</a:t>
            </a:r>
            <a:r>
              <a:rPr lang="en-US" altLang="ko-KR" sz="1600" dirty="0"/>
              <a:t>(</a:t>
            </a:r>
            <a:r>
              <a:rPr lang="ko-KR" altLang="en-US" sz="1600" dirty="0" err="1"/>
              <a:t>만료자제외</a:t>
            </a:r>
            <a:r>
              <a:rPr lang="en-US" altLang="ko-KR" sz="1600" dirty="0"/>
              <a:t>)</a:t>
            </a:r>
            <a:r>
              <a:rPr lang="ko-KR" altLang="en-US" sz="1600" dirty="0" smtClean="0"/>
              <a:t> 출력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일 때 엑셀 자료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305792" y="5986552"/>
            <a:ext cx="2683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정규 시트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개 로 출력된다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13070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53" y="661698"/>
            <a:ext cx="9210675" cy="5200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25" y="230743"/>
            <a:ext cx="6582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2-4) </a:t>
            </a:r>
            <a:r>
              <a:rPr lang="ko-KR" altLang="en-US" sz="1600" dirty="0" smtClean="0"/>
              <a:t>정규발송 엑셀 출력 </a:t>
            </a:r>
            <a:r>
              <a:rPr lang="en-US" altLang="ko-KR" sz="1600" dirty="0" smtClean="0"/>
              <a:t>: 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해외</a:t>
            </a:r>
            <a:r>
              <a:rPr lang="en-US" altLang="ko-KR" sz="1600" dirty="0" smtClean="0"/>
              <a:t>+</a:t>
            </a:r>
            <a:r>
              <a:rPr lang="ko-KR" altLang="en-US" sz="1600" dirty="0" smtClean="0"/>
              <a:t>만료자만 출력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일 때 엑셀 자료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3186522" y="5448880"/>
            <a:ext cx="45512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/>
              <a:t>연속성있음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/ </a:t>
            </a:r>
            <a:r>
              <a:rPr lang="ko-KR" altLang="en-US" sz="1600" dirty="0" err="1" smtClean="0"/>
              <a:t>연속성없음</a:t>
            </a:r>
            <a:r>
              <a:rPr lang="ko-KR" altLang="en-US" sz="1600" dirty="0" smtClean="0"/>
              <a:t> 시트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개 로 출력된다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3802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809625"/>
            <a:ext cx="7077075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25" y="230743"/>
            <a:ext cx="4969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2-5) </a:t>
            </a:r>
            <a:r>
              <a:rPr lang="ko-KR" altLang="en-US" sz="1600" dirty="0" smtClean="0"/>
              <a:t>정규발송 엑셀 출력 </a:t>
            </a:r>
            <a:r>
              <a:rPr lang="en-US" altLang="ko-KR" sz="1600" dirty="0" smtClean="0"/>
              <a:t>: 2</a:t>
            </a:r>
            <a:r>
              <a:rPr lang="ko-KR" altLang="en-US" sz="1600" dirty="0" err="1" smtClean="0"/>
              <a:t>권이상</a:t>
            </a:r>
            <a:r>
              <a:rPr lang="ko-KR" altLang="en-US" sz="1600" dirty="0" smtClean="0"/>
              <a:t> 일 때 엑셀 자료</a:t>
            </a:r>
            <a:endParaRPr lang="ko-KR" alt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300782" y="5336935"/>
            <a:ext cx="109776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다량</a:t>
            </a:r>
            <a:r>
              <a:rPr lang="en-US" altLang="ko-KR" sz="1600" dirty="0" smtClean="0"/>
              <a:t>(2</a:t>
            </a:r>
            <a:r>
              <a:rPr lang="ko-KR" altLang="en-US" sz="1600" dirty="0" err="1" smtClean="0"/>
              <a:t>권이상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의 국내 자료는 발송 수량에 따라 우편</a:t>
            </a:r>
            <a:r>
              <a:rPr lang="en-US" altLang="ko-KR" sz="1600" dirty="0" smtClean="0"/>
              <a:t>,</a:t>
            </a:r>
            <a:r>
              <a:rPr lang="ko-KR" altLang="en-US" sz="1600" dirty="0" smtClean="0"/>
              <a:t>택배 자료로 각각 나눠지고 우편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택배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정규 시트로 나눠진다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-. </a:t>
            </a:r>
            <a:r>
              <a:rPr lang="ko-KR" altLang="en-US" sz="1600" dirty="0" smtClean="0"/>
              <a:t>다량</a:t>
            </a:r>
            <a:r>
              <a:rPr lang="en-US" altLang="ko-KR" sz="1600" dirty="0"/>
              <a:t>(2</a:t>
            </a:r>
            <a:r>
              <a:rPr lang="ko-KR" altLang="en-US" sz="1600" dirty="0" err="1"/>
              <a:t>권이상</a:t>
            </a:r>
            <a:r>
              <a:rPr lang="en-US" altLang="ko-KR" sz="1600" dirty="0"/>
              <a:t>)</a:t>
            </a:r>
            <a:r>
              <a:rPr lang="ko-KR" altLang="en-US" sz="1600" dirty="0"/>
              <a:t>의 </a:t>
            </a:r>
            <a:r>
              <a:rPr lang="ko-KR" altLang="en-US" sz="1600" dirty="0" smtClean="0"/>
              <a:t>해외 </a:t>
            </a:r>
            <a:r>
              <a:rPr lang="ko-KR" altLang="en-US" sz="1600" dirty="0"/>
              <a:t>자료는 모두 우편으로 </a:t>
            </a:r>
            <a:r>
              <a:rPr lang="ko-KR" altLang="en-US" sz="1600" dirty="0" smtClean="0"/>
              <a:t>들어가고 우편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택배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정규 시트로 나눠진다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38083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1154583"/>
            <a:ext cx="78105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925" y="230743"/>
            <a:ext cx="9230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2-6) </a:t>
            </a:r>
            <a:r>
              <a:rPr lang="ko-KR" altLang="en-US" sz="1600" dirty="0" smtClean="0"/>
              <a:t>정규발송 엑셀 </a:t>
            </a:r>
            <a:r>
              <a:rPr lang="ko-KR" altLang="en-US" sz="1600" dirty="0" err="1" smtClean="0"/>
              <a:t>컬럼중에</a:t>
            </a:r>
            <a:r>
              <a:rPr lang="ko-KR" altLang="en-US" sz="1600" dirty="0" smtClean="0"/>
              <a:t> 구분</a:t>
            </a:r>
            <a:r>
              <a:rPr lang="en-US" altLang="ko-KR" sz="1600" dirty="0" smtClean="0"/>
              <a:t>1, </a:t>
            </a:r>
            <a:r>
              <a:rPr lang="ko-KR" altLang="en-US" sz="1600" dirty="0" smtClean="0"/>
              <a:t>구분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수량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구분</a:t>
            </a:r>
            <a:r>
              <a:rPr lang="en-US" altLang="ko-KR" sz="1600" dirty="0" smtClean="0"/>
              <a:t>2, </a:t>
            </a:r>
            <a:r>
              <a:rPr lang="ko-KR" altLang="en-US" sz="1600" dirty="0" smtClean="0"/>
              <a:t>구분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수량 </a:t>
            </a:r>
            <a:r>
              <a:rPr lang="ko-KR" altLang="en-US" sz="1600" dirty="0" err="1" smtClean="0"/>
              <a:t>컬럼</a:t>
            </a:r>
            <a:r>
              <a:rPr lang="ko-KR" altLang="en-US" sz="1600" dirty="0" smtClean="0"/>
              <a:t> 다량</a:t>
            </a:r>
            <a:r>
              <a:rPr lang="en-US" altLang="ko-KR" sz="1600" dirty="0" smtClean="0"/>
              <a:t>(2</a:t>
            </a:r>
            <a:r>
              <a:rPr lang="ko-KR" altLang="en-US" sz="1600" dirty="0" err="1" smtClean="0"/>
              <a:t>권이상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국내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에서만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</a:t>
            </a:r>
            <a:r>
              <a:rPr lang="ko-KR" altLang="en-US" sz="1600" dirty="0" smtClean="0"/>
              <a:t>필요한 </a:t>
            </a:r>
            <a:r>
              <a:rPr lang="ko-KR" altLang="en-US" sz="1600" dirty="0" err="1" smtClean="0"/>
              <a:t>컬럼이니</a:t>
            </a:r>
            <a:r>
              <a:rPr lang="ko-KR" altLang="en-US" sz="1600" dirty="0" smtClean="0"/>
              <a:t> 정기구독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권</a:t>
            </a:r>
            <a:r>
              <a:rPr lang="en-US" altLang="ko-KR" sz="1600" dirty="0" smtClean="0"/>
              <a:t>),</a:t>
            </a:r>
            <a:r>
              <a:rPr lang="ko-KR" altLang="en-US" sz="1600" dirty="0" smtClean="0"/>
              <a:t>해외출력 자료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에서는 삭제해서 사용해도 된다</a:t>
            </a:r>
            <a:r>
              <a:rPr lang="en-US" altLang="ko-KR" sz="1600" dirty="0" smtClean="0"/>
              <a:t>.     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0967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1137</Words>
  <Application>Microsoft Office PowerPoint</Application>
  <PresentationFormat>와이드스크린</PresentationFormat>
  <Paragraphs>106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potiUser</dc:creator>
  <cp:lastModifiedBy>potiUser</cp:lastModifiedBy>
  <cp:revision>31</cp:revision>
  <dcterms:created xsi:type="dcterms:W3CDTF">2016-06-09T05:10:33Z</dcterms:created>
  <dcterms:modified xsi:type="dcterms:W3CDTF">2016-06-15T06:24:11Z</dcterms:modified>
</cp:coreProperties>
</file>